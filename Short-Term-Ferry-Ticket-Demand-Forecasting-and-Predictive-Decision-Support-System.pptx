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B0604020202020204" charset="0"/>
      <p:regular r:id="rId13"/>
    </p:embeddedFont>
    <p:embeddedFont>
      <p:font typeface="Petrona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830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593155"/>
            <a:ext cx="6296860" cy="2480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Short-Term Ferry Ticket Demand Forecasting &amp; Predictive Decision Support System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435748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presentation outlines an operationally focused AI system that predicts short‑term ticket demand, informs dynamic pricing, and drives real‑time decision support for ferry operators.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17873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Maritime Efficiency Challenge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92090"/>
            <a:ext cx="1004962" cy="6211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2592090"/>
            <a:ext cx="2224230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Perishable Inventory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02670" y="3325614"/>
            <a:ext cx="22242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unsold seat or lane metre on departure is irrevocable lost revenue — urgency to forecast near-term fill rates is critical.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592090"/>
            <a:ext cx="1004962" cy="6211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330" y="2592090"/>
            <a:ext cx="222423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Late Bookings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604330" y="3015555"/>
            <a:ext cx="22242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average: 46% of reservations occur within one week of departure — demand is highly concentrated near sailing dates.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592090"/>
            <a:ext cx="1004962" cy="6211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2592090"/>
            <a:ext cx="2224230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Operational Bottlenecks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305990" y="3325614"/>
            <a:ext cx="22242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schedules and static staffing lead to overloads, increased delays, and suboptimal resource allocation.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42938"/>
            <a:ext cx="6296860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Shift: From Rules to Intelligence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233360" y="2107803"/>
            <a:ext cx="291785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legacy fails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233360" y="2606873"/>
            <a:ext cx="2917851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Rules-based systems are reactive and brittle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don't learn from micro-trends or sudden events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3360" y="4071640"/>
            <a:ext cx="291785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approaches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5233360" y="4570710"/>
            <a:ext cx="2917851" cy="1578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Bayesian forecasting for uncertainty quantification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Reinforcement learning for tactical pricing &amp; packing policies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18719" y="2107803"/>
            <a:ext cx="291785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variables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8618719" y="2606873"/>
            <a:ext cx="291785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High-frequency predictors used by the model: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18719" y="3381772"/>
            <a:ext cx="2917851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bookings &amp; cancellations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Weather, tide, and sea-state feeds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events, holidays, and economic indicators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intra-day booking curves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61702"/>
            <a:ext cx="6296860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Case Study: Molslinjen’s Data-Driven Transformation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5233360" y="2037556"/>
            <a:ext cx="1972915" cy="3241179"/>
          </a:xfrm>
          <a:prstGeom prst="roundRect">
            <a:avLst>
              <a:gd name="adj" fmla="val 402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232918"/>
            <a:ext cx="158220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Partnership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428717" y="2656384"/>
            <a:ext cx="158220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with Halfspace to scale data pipelines and ML operations since 2020.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395283" y="2037556"/>
            <a:ext cx="1972915" cy="3241179"/>
          </a:xfrm>
          <a:prstGeom prst="roundRect">
            <a:avLst>
              <a:gd name="adj" fmla="val 402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90640" y="2232918"/>
            <a:ext cx="1582202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Financial Results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590640" y="2966442"/>
            <a:ext cx="158220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$5M cumulative savings by Dec 2023 through improved yield management and reduced waste.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9557205" y="2037556"/>
            <a:ext cx="1972915" cy="3241179"/>
          </a:xfrm>
          <a:prstGeom prst="roundRect">
            <a:avLst>
              <a:gd name="adj" fmla="val 402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52562" y="2232918"/>
            <a:ext cx="1582202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Operational Gains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752562" y="2966442"/>
            <a:ext cx="1582202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3.5% fewer delays and 3% fuel reduction via optimized packing and route adjustments.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233360" y="5491361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measurable outcomes demonstrate the value of tightly integrating forecasting with operations.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1512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Predictive Demand Logic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04877"/>
            <a:ext cx="4637269" cy="26278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6251" y="2110184"/>
            <a:ext cx="577022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modules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766251" y="2609255"/>
            <a:ext cx="5770220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modeling — probabilistic short‑horizon forecasts (0–30 days)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management — lane‑meter allocation and packing plans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optimization — EMSRb‑MR and reinforcement policies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766251" y="4442520"/>
            <a:ext cx="577022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Time-to-Departure sensitivity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5766251" y="4941590"/>
            <a:ext cx="5770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Elasticity shifts significantly in the final 60 minutes; last‑minute micro‑pricing and packing decisions matter most.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45852"/>
            <a:ext cx="629686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Operational Decision Support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661475" y="1725513"/>
            <a:ext cx="1972915" cy="4186535"/>
          </a:xfrm>
          <a:prstGeom prst="roundRect">
            <a:avLst>
              <a:gd name="adj" fmla="val 402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5881" y="1939925"/>
            <a:ext cx="1544103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Staffing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75881" y="2673449"/>
            <a:ext cx="1544103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Forecast-driven crew schedules reduce overtime and avoid costly late hires while maintaining safety and service levels.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2823397" y="1725513"/>
            <a:ext cx="1972915" cy="4186535"/>
          </a:xfrm>
          <a:prstGeom prst="roundRect">
            <a:avLst>
              <a:gd name="adj" fmla="val 402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37804" y="1939925"/>
            <a:ext cx="1544103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Tactical Packing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3037804" y="2673449"/>
            <a:ext cx="1544103" cy="302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Zipper Configuration strategies are selected from forecast ensembles to maximize lane metre utilization and minimize rework.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985320" y="1725513"/>
            <a:ext cx="1972915" cy="4186535"/>
          </a:xfrm>
          <a:prstGeom prst="roundRect">
            <a:avLst>
              <a:gd name="adj" fmla="val 402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99726" y="1939925"/>
            <a:ext cx="1544103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Priority Allocation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199726" y="2673449"/>
            <a:ext cx="1544103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business vs leisure demand signals to reserve priority space for high‑yield customers without harming fill rates.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5484"/>
            <a:ext cx="6296860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Management &amp; Dynamic Pricing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225947"/>
            <a:ext cx="369085" cy="3690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1739205"/>
            <a:ext cx="2968352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EMSRb‑MR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61475" y="2096691"/>
            <a:ext cx="2968352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availability across fare classes by balancing marginal seat revenue vs stocking limits.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958405"/>
            <a:ext cx="369085" cy="3690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1475" y="3471664"/>
            <a:ext cx="2968352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Dynamic Adjustments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61475" y="3829149"/>
            <a:ext cx="2968352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Surge pricing for over-performing sailings; targeted micro‑promotions for under‑performers.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690864"/>
            <a:ext cx="369085" cy="3690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475" y="5204123"/>
            <a:ext cx="2968352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Cargo Uplift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661475" y="5561608"/>
            <a:ext cx="2968352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loading increased cargo capacity by 6% through refined packing rules and prioritization logic.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3996332" y="1199952"/>
            <a:ext cx="2968352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unified decision layer combines probabilistic forecasts with revenue objectives to issue automated availability and price recommendations.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83084"/>
            <a:ext cx="629686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Advanced Analytics in Practice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2151757"/>
            <a:ext cx="291785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Forecasting Tools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61475" y="2650827"/>
            <a:ext cx="291785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Prophet for robust 30‑day seasonality and holiday effects; Bayesian ensembles to quantify uncertainty near departure.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4030563"/>
            <a:ext cx="2917851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Short‑horizon ensembles for tactical decisions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Longer horizons for resource planning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046833" y="2151757"/>
            <a:ext cx="291785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Integration &amp; Feedback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4046833" y="2650827"/>
            <a:ext cx="291785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 ingest legacy reservation systems and telemetry; models learn from price elasticities and willingness‑to‑pay signals in real time.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046833" y="4332982"/>
            <a:ext cx="2917851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A/B testing of pricing rules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Closed‑loop model retraining from operational outcomes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68834"/>
            <a:ext cx="6296860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Beyond Forecasting: Operational Excellence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5233360" y="1944688"/>
            <a:ext cx="3053877" cy="2636341"/>
          </a:xfrm>
          <a:prstGeom prst="roundRect">
            <a:avLst>
              <a:gd name="adj" fmla="val 301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140049"/>
            <a:ext cx="2663163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Predictive Maintenance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428717" y="2873573"/>
            <a:ext cx="26631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data and anomaly detection anticipate failures, reducing unscheduled downtime and improving reliability.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1944688"/>
            <a:ext cx="3053976" cy="2636341"/>
          </a:xfrm>
          <a:prstGeom prst="roundRect">
            <a:avLst>
              <a:gd name="adj" fmla="val 3011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140049"/>
            <a:ext cx="266326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Emissions &amp; Efficiency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8671601" y="2563515"/>
            <a:ext cx="266326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Load-aware routing and optimized packing reduce fuel burn and CO2 output — measurable sustainability gains.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770041"/>
            <a:ext cx="6296860" cy="1419027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965402"/>
            <a:ext cx="59061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Golden Hour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428717" y="5388868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60‑minute forecast locks in the packing configuration and pricing overrides, ensuring a coordinated departure plan.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1805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Future of Maritime Transit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26022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304480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Integrated Operations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61475" y="3727946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 forecasting into crew, loading, pricing, and maintenance workflows — one authoritative truth for decisions.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1826022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304480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Sustainability &amp; Profitability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4363135" y="372794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choices reduce emissions while improving margins — the twin mandate for modern ferry operators.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1826022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304480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Next Steps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8064794" y="3727946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Operationalize the Golden Hour, expand real‑time APIs, and pilot RL-driven packing/pricing on high-frequency routes.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5150247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CCEEFF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417939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5386487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insight today builds the sustainable, profitable ferry operator of tomorrow.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</Words>
  <Application>Microsoft Office PowerPoint</Application>
  <PresentationFormat>Widescreen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Petrona 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Yash Pahal</cp:lastModifiedBy>
  <cp:revision>2</cp:revision>
  <dcterms:created xsi:type="dcterms:W3CDTF">2026-09-17T05:29:39Z</dcterms:created>
  <dcterms:modified xsi:type="dcterms:W3CDTF">2026-09-17T05:33:16Z</dcterms:modified>
</cp:coreProperties>
</file>